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9753600" cy="7315200"/>
  <p:notesSz cx="6858000" cy="9144000"/>
  <p:embeddedFontLst>
    <p:embeddedFont>
      <p:font typeface="Playfair Display Bold" charset="1" panose="00000000000000000000"/>
      <p:regular r:id="rId18"/>
    </p:embeddedFont>
    <p:embeddedFont>
      <p:font typeface="Playfair Display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1499235"/>
            <a:ext cx="7620000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1"/>
              </a:lnSpc>
            </a:pPr>
            <a:r>
              <a:rPr lang="en-US" sz="4693" b="true">
                <a:solidFill>
                  <a:srgbClr val="003366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Análisis de DNSSEC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6800" y="2679192"/>
            <a:ext cx="76200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5"/>
              </a:lnSpc>
            </a:pPr>
            <a:r>
              <a:rPr lang="en-US" sz="3413">
                <a:solidFill>
                  <a:srgbClr val="33669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Dominios bajo .mx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42160" y="3752088"/>
            <a:ext cx="566928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7"/>
              </a:lnSpc>
            </a:pPr>
            <a:r>
              <a:rPr lang="en-US" sz="1706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Herramientas: Wireshark • dig • Python (Scapy)</a:t>
            </a:r>
          </a:p>
          <a:p>
            <a:pPr algn="ctr">
              <a:lnSpc>
                <a:spcPts val="2047"/>
              </a:lnSpc>
            </a:pPr>
            <a:r>
              <a:rPr lang="en-US" sz="1706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Dominios analizados: 5</a:t>
            </a:r>
          </a:p>
          <a:p>
            <a:pPr algn="ctr">
              <a:lnSpc>
                <a:spcPts val="2047"/>
              </a:lnSpc>
            </a:pPr>
            <a:r>
              <a:rPr lang="en-US" sz="1706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Registros DNSSEC: DNSKEY, RRSIG, NSEC/NSEC3, DS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42160" y="5085588"/>
            <a:ext cx="566928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5"/>
              </a:lnSpc>
            </a:pPr>
            <a:r>
              <a:rPr lang="en-US" sz="1279">
                <a:solidFill>
                  <a:srgbClr val="64646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Equipo 2</a:t>
            </a:r>
          </a:p>
          <a:p>
            <a:pPr algn="ctr">
              <a:lnSpc>
                <a:spcPts val="1535"/>
              </a:lnSpc>
            </a:pPr>
            <a:r>
              <a:rPr lang="en-US" sz="1279">
                <a:solidFill>
                  <a:srgbClr val="64646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Alberto Boughton Reyes A01178500</a:t>
            </a:r>
          </a:p>
          <a:p>
            <a:pPr algn="ctr">
              <a:lnSpc>
                <a:spcPts val="1535"/>
              </a:lnSpc>
            </a:pPr>
            <a:r>
              <a:rPr lang="en-US" sz="1279">
                <a:solidFill>
                  <a:srgbClr val="64646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Valeria Garcia Hernandez A01742811</a:t>
            </a:r>
          </a:p>
          <a:p>
            <a:pPr algn="ctr">
              <a:lnSpc>
                <a:spcPts val="1535"/>
              </a:lnSpc>
            </a:pPr>
            <a:r>
              <a:rPr lang="en-US" sz="1279">
                <a:solidFill>
                  <a:srgbClr val="64646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Facundo Bautista Barbera A01066843</a:t>
            </a:r>
          </a:p>
          <a:p>
            <a:pPr algn="ctr">
              <a:lnSpc>
                <a:spcPts val="1535"/>
              </a:lnSpc>
            </a:pPr>
            <a:r>
              <a:rPr lang="en-US" sz="1279">
                <a:solidFill>
                  <a:srgbClr val="64646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Emiliano Ruiz López A01659693</a:t>
            </a:r>
          </a:p>
          <a:p>
            <a:pPr algn="ctr">
              <a:lnSpc>
                <a:spcPts val="1535"/>
              </a:lnSpc>
            </a:pPr>
            <a:r>
              <a:rPr lang="en-US" sz="1279">
                <a:solidFill>
                  <a:srgbClr val="64646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Daniel Garnelo Martinez A00573086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1704320" cy="163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 b="true">
                  <a:solidFill>
                    <a:srgbClr val="000000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¿Qué es DNSSEC?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00545" y="1512147"/>
            <a:ext cx="7786255" cy="457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633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DNS Security Extensions (DNSSEC)</a:t>
            </a:r>
          </a:p>
          <a:p>
            <a:pPr algn="l">
              <a:lnSpc>
                <a:spcPts val="2391"/>
              </a:lnSpc>
            </a:pPr>
            <a:r>
              <a:rPr lang="en-US" sz="1993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Conjunto de extensiones que añaden seguridad al Sistema de Nombres de Dominio mediante firmas criptográficas</a:t>
            </a:r>
          </a:p>
          <a:p>
            <a:pPr algn="l">
              <a:lnSpc>
                <a:spcPts val="2903"/>
              </a:lnSpc>
            </a:pPr>
          </a:p>
          <a:p>
            <a:pPr algn="l">
              <a:lnSpc>
                <a:spcPts val="2903"/>
              </a:lnSpc>
            </a:pPr>
            <a:r>
              <a:rPr lang="en-US" sz="241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Protección:</a:t>
            </a:r>
          </a:p>
          <a:p>
            <a:pPr algn="l" marL="384300" indent="-192150" lvl="1">
              <a:lnSpc>
                <a:spcPts val="2135"/>
              </a:lnSpc>
              <a:buAutoNum type="arabicPeriod" startAt="1"/>
            </a:pPr>
            <a:r>
              <a:rPr lang="en-US" sz="177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Autenticidad de datos DNS</a:t>
            </a:r>
          </a:p>
          <a:p>
            <a:pPr algn="l" marL="384300" indent="-192150" lvl="1">
              <a:lnSpc>
                <a:spcPts val="2135"/>
              </a:lnSpc>
              <a:buAutoNum type="arabicPeriod" startAt="1"/>
            </a:pPr>
            <a:r>
              <a:rPr lang="en-US" sz="177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Integridad de respuestas</a:t>
            </a:r>
          </a:p>
          <a:p>
            <a:pPr algn="l" marL="384300" indent="-192150" lvl="1">
              <a:lnSpc>
                <a:spcPts val="2135"/>
              </a:lnSpc>
              <a:buAutoNum type="arabicPeriod" startAt="1"/>
            </a:pPr>
            <a:r>
              <a:rPr lang="en-US" sz="177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Protección contra envenenamiento de caché</a:t>
            </a:r>
          </a:p>
          <a:p>
            <a:pPr algn="l" marL="384300" indent="-192150" lvl="1">
              <a:lnSpc>
                <a:spcPts val="2135"/>
              </a:lnSpc>
              <a:buAutoNum type="arabicPeriod" startAt="1"/>
            </a:pPr>
            <a:r>
              <a:rPr lang="en-US" sz="177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Prevención de ataques MITM</a:t>
            </a:r>
          </a:p>
          <a:p>
            <a:pPr algn="l">
              <a:lnSpc>
                <a:spcPts val="2903"/>
              </a:lnSpc>
            </a:pPr>
          </a:p>
          <a:p>
            <a:pPr algn="l">
              <a:lnSpc>
                <a:spcPts val="2903"/>
              </a:lnSpc>
            </a:pPr>
            <a:r>
              <a:rPr lang="en-US" sz="241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Registros Clave:</a:t>
            </a:r>
          </a:p>
          <a:p>
            <a:pPr algn="l" marL="384300" indent="-192150" lvl="1">
              <a:lnSpc>
                <a:spcPts val="2135"/>
              </a:lnSpc>
              <a:buFont typeface="Arial"/>
              <a:buChar char="•"/>
            </a:pPr>
            <a:r>
              <a:rPr lang="en-US" sz="177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DNSKEY: Claves públicas</a:t>
            </a:r>
          </a:p>
          <a:p>
            <a:pPr algn="l" marL="384300" indent="-192150" lvl="1">
              <a:lnSpc>
                <a:spcPts val="2135"/>
              </a:lnSpc>
              <a:buFont typeface="Arial"/>
              <a:buChar char="•"/>
            </a:pPr>
            <a:r>
              <a:rPr lang="en-US" sz="177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RRSIG: Firmas digitales</a:t>
            </a:r>
          </a:p>
          <a:p>
            <a:pPr algn="l" marL="384300" indent="-192150" lvl="1">
              <a:lnSpc>
                <a:spcPts val="2135"/>
              </a:lnSpc>
              <a:buFont typeface="Arial"/>
              <a:buChar char="•"/>
            </a:pPr>
            <a:r>
              <a:rPr lang="en-US" sz="177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DS: Delegación segura</a:t>
            </a:r>
          </a:p>
          <a:p>
            <a:pPr algn="l" marL="384300" indent="-192150" lvl="1">
              <a:lnSpc>
                <a:spcPts val="2135"/>
              </a:lnSpc>
              <a:buFont typeface="Arial"/>
              <a:buChar char="•"/>
            </a:pPr>
            <a:r>
              <a:rPr lang="en-US" sz="177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NSEC/NSEC3: Negación autenticada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1704320" cy="163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 b="true">
                  <a:solidFill>
                    <a:srgbClr val="000000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Metodología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66800" y="1512147"/>
            <a:ext cx="7620000" cy="432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7"/>
              </a:lnSpc>
            </a:pPr>
            <a:r>
              <a:rPr lang="en-US" sz="2206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1. Captura de Tráfico</a:t>
            </a:r>
          </a:p>
          <a:p>
            <a:pPr algn="l">
              <a:lnSpc>
                <a:spcPts val="2135"/>
              </a:lnSpc>
            </a:pPr>
            <a:r>
              <a:rPr lang="en-US" sz="177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Wireshark filtrando puerto 53 (DNS) con flag DO (DNSSEC OK)</a:t>
            </a:r>
          </a:p>
          <a:p>
            <a:pPr algn="l">
              <a:lnSpc>
                <a:spcPts val="2135"/>
              </a:lnSpc>
            </a:pPr>
          </a:p>
          <a:p>
            <a:pPr algn="l">
              <a:lnSpc>
                <a:spcPts val="2647"/>
              </a:lnSpc>
            </a:pPr>
            <a:r>
              <a:rPr lang="en-US" sz="2206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2. Consultas DNS</a:t>
            </a:r>
          </a:p>
          <a:p>
            <a:pPr algn="l">
              <a:lnSpc>
                <a:spcPts val="2135"/>
              </a:lnSpc>
            </a:pPr>
            <a:r>
              <a:rPr lang="en-US" sz="177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Comando dig con +dnssec para DNSKEY, DS, RRSIG, NSEC/NSEC3</a:t>
            </a:r>
          </a:p>
          <a:p>
            <a:pPr algn="l">
              <a:lnSpc>
                <a:spcPts val="2135"/>
              </a:lnSpc>
            </a:pPr>
          </a:p>
          <a:p>
            <a:pPr algn="l">
              <a:lnSpc>
                <a:spcPts val="2647"/>
              </a:lnSpc>
            </a:pPr>
            <a:r>
              <a:rPr lang="en-US" sz="2206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3. Procesamiento</a:t>
            </a:r>
          </a:p>
          <a:p>
            <a:pPr algn="l">
              <a:lnSpc>
                <a:spcPts val="2135"/>
              </a:lnSpc>
            </a:pPr>
            <a:r>
              <a:rPr lang="en-US" sz="177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Script Python con Scapy para extraer registros DNSSEC</a:t>
            </a:r>
          </a:p>
          <a:p>
            <a:pPr algn="l">
              <a:lnSpc>
                <a:spcPts val="2135"/>
              </a:lnSpc>
            </a:pPr>
          </a:p>
          <a:p>
            <a:pPr algn="l">
              <a:lnSpc>
                <a:spcPts val="2647"/>
              </a:lnSpc>
            </a:pPr>
            <a:r>
              <a:rPr lang="en-US" sz="2206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4. Árbol DNS</a:t>
            </a:r>
          </a:p>
          <a:p>
            <a:pPr algn="l">
              <a:lnSpc>
                <a:spcPts val="2135"/>
              </a:lnSpc>
            </a:pPr>
            <a:r>
              <a:rPr lang="en-US" sz="177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Verificación de cadena de confianza y dependencias</a:t>
            </a:r>
          </a:p>
          <a:p>
            <a:pPr algn="l">
              <a:lnSpc>
                <a:spcPts val="2903"/>
              </a:lnSpc>
            </a:pPr>
          </a:p>
          <a:p>
            <a:pPr algn="l">
              <a:lnSpc>
                <a:spcPts val="3023"/>
              </a:lnSpc>
            </a:pPr>
            <a:r>
              <a:rPr lang="en-US" sz="251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Dominios analizados: unam.mx, ipn.mx, gob.mx, sat.mx, tec.mx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1704320" cy="163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 b="true">
                  <a:solidFill>
                    <a:srgbClr val="000000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Análisis DNSSEC: unam.mx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9120" y="1801368"/>
            <a:ext cx="8595360" cy="388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3"/>
              </a:lnSpc>
            </a:pPr>
            <a:r>
              <a:rPr lang="en-US" sz="2619">
                <a:solidFill>
                  <a:srgbClr val="008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DNSKEY: Presente (2 claves)</a:t>
            </a:r>
          </a:p>
          <a:p>
            <a:pPr algn="l">
              <a:lnSpc>
                <a:spcPts val="2247"/>
              </a:lnSpc>
            </a:pPr>
            <a:r>
              <a:rPr lang="en-US" sz="1873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• ZSK (256): ECDSA-P256/SHA-256</a:t>
            </a:r>
          </a:p>
          <a:p>
            <a:pPr algn="l">
              <a:lnSpc>
                <a:spcPts val="2247"/>
              </a:lnSpc>
            </a:pPr>
            <a:r>
              <a:rPr lang="en-US" sz="1873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• KSK (257): ECDSA-P256/SHA-256</a:t>
            </a:r>
          </a:p>
          <a:p>
            <a:pPr algn="l">
              <a:lnSpc>
                <a:spcPts val="2631"/>
              </a:lnSpc>
            </a:pPr>
            <a:r>
              <a:rPr lang="en-US" sz="2193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• TTL: 6275 segundos</a:t>
            </a:r>
          </a:p>
          <a:p>
            <a:pPr algn="l">
              <a:lnSpc>
                <a:spcPts val="2631"/>
              </a:lnSpc>
            </a:pPr>
            <a:r>
              <a:rPr lang="en-US" sz="2193">
                <a:solidFill>
                  <a:srgbClr val="FF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RRSIG: No presente</a:t>
            </a:r>
          </a:p>
          <a:p>
            <a:pPr algn="l">
              <a:lnSpc>
                <a:spcPts val="2631"/>
              </a:lnSpc>
            </a:pPr>
            <a:r>
              <a:rPr lang="en-US" sz="2193">
                <a:solidFill>
                  <a:srgbClr val="008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NSEC: Presente (tradicional)</a:t>
            </a:r>
          </a:p>
          <a:p>
            <a:pPr algn="l">
              <a:lnSpc>
                <a:spcPts val="2247"/>
              </a:lnSpc>
            </a:pPr>
            <a:r>
              <a:rPr lang="en-US" sz="1873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• TTL: 118 segundos</a:t>
            </a:r>
          </a:p>
          <a:p>
            <a:pPr algn="l">
              <a:lnSpc>
                <a:spcPts val="2631"/>
              </a:lnSpc>
            </a:pPr>
            <a:r>
              <a:rPr lang="en-US" sz="2193">
                <a:solidFill>
                  <a:srgbClr val="008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DS: Presente (1 registro)</a:t>
            </a:r>
          </a:p>
          <a:p>
            <a:pPr algn="l">
              <a:lnSpc>
                <a:spcPts val="2247"/>
              </a:lnSpc>
            </a:pPr>
            <a:r>
              <a:rPr lang="en-US" sz="1873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• Key Tag: 54058, Algoritmo: ECDSA-P256/SHA-256</a:t>
            </a:r>
          </a:p>
          <a:p>
            <a:pPr algn="l">
              <a:lnSpc>
                <a:spcPts val="2247"/>
              </a:lnSpc>
            </a:pPr>
            <a:r>
              <a:rPr lang="en-US" sz="1873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• TTL: 85475 segundos</a:t>
            </a:r>
          </a:p>
          <a:p>
            <a:pPr algn="l">
              <a:lnSpc>
                <a:spcPts val="3143"/>
              </a:lnSpc>
            </a:pPr>
          </a:p>
          <a:p>
            <a:pPr algn="l">
              <a:lnSpc>
                <a:spcPts val="3143"/>
              </a:lnSpc>
            </a:pPr>
            <a:r>
              <a:rPr lang="en-US" sz="261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Estado: Enabled Incomplete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0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1704320" cy="163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 b="true">
                  <a:solidFill>
                    <a:srgbClr val="000000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Análisis DNSSEC: ipn.mx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9120" y="1228725"/>
            <a:ext cx="8595360" cy="492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2219">
                <a:solidFill>
                  <a:srgbClr val="008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DNSKEY: Presente (2 claves)</a:t>
            </a:r>
          </a:p>
          <a:p>
            <a:pPr algn="l">
              <a:lnSpc>
                <a:spcPts val="1767"/>
              </a:lnSpc>
            </a:pPr>
            <a:r>
              <a:rPr lang="en-US" sz="1473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• ZSK (256): RSA/SHA-512</a:t>
            </a:r>
          </a:p>
          <a:p>
            <a:pPr algn="l">
              <a:lnSpc>
                <a:spcPts val="1767"/>
              </a:lnSpc>
            </a:pPr>
            <a:r>
              <a:rPr lang="en-US" sz="1473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• KSK (257): RSA/SHA-512</a:t>
            </a:r>
          </a:p>
          <a:p>
            <a:pPr algn="l">
              <a:lnSpc>
                <a:spcPts val="2151"/>
              </a:lnSpc>
            </a:pPr>
            <a:r>
              <a:rPr lang="en-US" sz="1793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• TTL: 86219 segundos</a:t>
            </a:r>
          </a:p>
          <a:p>
            <a:pPr algn="l">
              <a:lnSpc>
                <a:spcPts val="2151"/>
              </a:lnSpc>
            </a:pPr>
            <a:r>
              <a:rPr lang="en-US" sz="1793">
                <a:solidFill>
                  <a:srgbClr val="FF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RRSIG: No presente</a:t>
            </a:r>
          </a:p>
          <a:p>
            <a:pPr algn="l">
              <a:lnSpc>
                <a:spcPts val="2151"/>
              </a:lnSpc>
            </a:pPr>
            <a:r>
              <a:rPr lang="en-US" sz="1793">
                <a:solidFill>
                  <a:srgbClr val="0066C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NSEC3PARAM: Presente</a:t>
            </a:r>
          </a:p>
          <a:p>
            <a:pPr algn="l">
              <a:lnSpc>
                <a:spcPts val="1767"/>
              </a:lnSpc>
            </a:pPr>
            <a:r>
              <a:rPr lang="en-US" sz="1473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• Hash: SHA-1, Iteraciones: 1</a:t>
            </a:r>
          </a:p>
          <a:p>
            <a:pPr algn="l">
              <a:lnSpc>
                <a:spcPts val="1767"/>
              </a:lnSpc>
            </a:pPr>
            <a:r>
              <a:rPr lang="en-US" sz="1473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• TTL: 3419 segundos</a:t>
            </a:r>
          </a:p>
          <a:p>
            <a:pPr algn="l">
              <a:lnSpc>
                <a:spcPts val="2151"/>
              </a:lnSpc>
            </a:pPr>
            <a:r>
              <a:rPr lang="en-US" sz="1793">
                <a:solidFill>
                  <a:srgbClr val="FF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DS: No presente (cadena de confianza rota)</a:t>
            </a:r>
          </a:p>
          <a:p>
            <a:pPr algn="l">
              <a:lnSpc>
                <a:spcPts val="2663"/>
              </a:lnSpc>
            </a:pPr>
          </a:p>
          <a:p>
            <a:pPr algn="l">
              <a:lnSpc>
                <a:spcPts val="2663"/>
              </a:lnSpc>
            </a:pPr>
            <a:r>
              <a:rPr lang="en-US" sz="221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Estado: Enabled Incomplete</a:t>
            </a:r>
          </a:p>
          <a:p>
            <a:pPr algn="l">
              <a:lnSpc>
                <a:spcPts val="2663"/>
              </a:lnSpc>
            </a:pPr>
          </a:p>
          <a:p>
            <a:pPr algn="l">
              <a:lnSpc>
                <a:spcPts val="2184"/>
              </a:lnSpc>
            </a:pPr>
            <a:r>
              <a:rPr lang="en-US" sz="182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ipn.mx configuró DNSSEC localmente pero no completó el registro DS en su padre (.mx).</a:t>
            </a:r>
          </a:p>
          <a:p>
            <a:pPr algn="l">
              <a:lnSpc>
                <a:spcPts val="2184"/>
              </a:lnSpc>
            </a:pPr>
          </a:p>
          <a:p>
            <a:pPr algn="l">
              <a:lnSpc>
                <a:spcPts val="2184"/>
              </a:lnSpc>
            </a:pPr>
            <a:r>
              <a:rPr lang="en-US" sz="182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Rompe la cadena de confianza</a:t>
            </a:r>
          </a:p>
          <a:p>
            <a:pPr algn="l">
              <a:lnSpc>
                <a:spcPts val="2184"/>
              </a:lnSpc>
            </a:pPr>
          </a:p>
          <a:p>
            <a:pPr algn="l">
              <a:lnSpc>
                <a:spcPts val="2184"/>
              </a:lnSpc>
            </a:pPr>
            <a:r>
              <a:rPr lang="en-US" sz="182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Falta activar/firmar los componentes finales.(NSEC/NSEC3 Parcial)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1704320" cy="163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 b="true">
                  <a:solidFill>
                    <a:srgbClr val="000000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Análisis DNSSEC: gob.mx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9120" y="1336626"/>
            <a:ext cx="8595360" cy="483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519">
                <a:solidFill>
                  <a:srgbClr val="008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DNSKEY: Presente (2 claves)</a:t>
            </a:r>
          </a:p>
          <a:p>
            <a:pPr algn="l">
              <a:lnSpc>
                <a:spcPts val="2127"/>
              </a:lnSpc>
            </a:pPr>
            <a:r>
              <a:rPr lang="en-US" sz="1773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• ZSK (256): RSA/SHA-256</a:t>
            </a:r>
          </a:p>
          <a:p>
            <a:pPr algn="l">
              <a:lnSpc>
                <a:spcPts val="2127"/>
              </a:lnSpc>
            </a:pPr>
            <a:r>
              <a:rPr lang="en-US" sz="1773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• KSK (257): RSA/SHA-256</a:t>
            </a:r>
          </a:p>
          <a:p>
            <a:pPr algn="l">
              <a:lnSpc>
                <a:spcPts val="2511"/>
              </a:lnSpc>
            </a:pPr>
            <a:r>
              <a:rPr lang="en-US" sz="2093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• TTL: 86218 segundos</a:t>
            </a:r>
          </a:p>
          <a:p>
            <a:pPr algn="l">
              <a:lnSpc>
                <a:spcPts val="2511"/>
              </a:lnSpc>
            </a:pPr>
            <a:r>
              <a:rPr lang="en-US" sz="2093">
                <a:solidFill>
                  <a:srgbClr val="FF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RRSIG: No presente</a:t>
            </a:r>
          </a:p>
          <a:p>
            <a:pPr algn="l">
              <a:lnSpc>
                <a:spcPts val="2511"/>
              </a:lnSpc>
            </a:pPr>
            <a:r>
              <a:rPr lang="en-US" sz="2093">
                <a:solidFill>
                  <a:srgbClr val="0066C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NSEC3PARAM: Presente</a:t>
            </a:r>
          </a:p>
          <a:p>
            <a:pPr algn="l">
              <a:lnSpc>
                <a:spcPts val="2127"/>
              </a:lnSpc>
            </a:pPr>
            <a:r>
              <a:rPr lang="en-US" sz="1773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• Hash: SHA-1, Iteraciones: 0</a:t>
            </a:r>
          </a:p>
          <a:p>
            <a:pPr algn="l">
              <a:lnSpc>
                <a:spcPts val="2127"/>
              </a:lnSpc>
            </a:pPr>
            <a:r>
              <a:rPr lang="en-US" sz="1773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• TTL: 86219 segundos</a:t>
            </a:r>
          </a:p>
          <a:p>
            <a:pPr algn="l">
              <a:lnSpc>
                <a:spcPts val="2511"/>
              </a:lnSpc>
            </a:pPr>
            <a:r>
              <a:rPr lang="en-US" sz="2093">
                <a:solidFill>
                  <a:srgbClr val="008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DS: Presente (1 registro)</a:t>
            </a:r>
          </a:p>
          <a:p>
            <a:pPr algn="l">
              <a:lnSpc>
                <a:spcPts val="2127"/>
              </a:lnSpc>
            </a:pPr>
            <a:r>
              <a:rPr lang="en-US" sz="1773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• Key Tag: 12884, Algoritmo: RSA/SHA-256</a:t>
            </a:r>
          </a:p>
          <a:p>
            <a:pPr algn="l">
              <a:lnSpc>
                <a:spcPts val="2127"/>
              </a:lnSpc>
            </a:pPr>
            <a:r>
              <a:rPr lang="en-US" sz="1773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• TTL: 86218 segundos</a:t>
            </a:r>
          </a:p>
          <a:p>
            <a:pPr algn="l">
              <a:lnSpc>
                <a:spcPts val="3023"/>
              </a:lnSpc>
            </a:pPr>
          </a:p>
          <a:p>
            <a:pPr algn="l">
              <a:lnSpc>
                <a:spcPts val="2423"/>
              </a:lnSpc>
            </a:pPr>
            <a:r>
              <a:rPr lang="en-US" sz="201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Estado: Enabled Incomplete</a:t>
            </a:r>
          </a:p>
          <a:p>
            <a:pPr algn="l">
              <a:lnSpc>
                <a:spcPts val="2423"/>
              </a:lnSpc>
            </a:pPr>
          </a:p>
          <a:p>
            <a:pPr algn="l">
              <a:lnSpc>
                <a:spcPts val="2423"/>
              </a:lnSpc>
            </a:pPr>
            <a:r>
              <a:rPr lang="en-US" sz="201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Falta activar/firmar los componentes finales. (NSEC/NSEC3 Parcial)</a:t>
            </a:r>
          </a:p>
          <a:p>
            <a:pPr algn="l">
              <a:lnSpc>
                <a:spcPts val="2423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1704320" cy="163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 b="true">
                  <a:solidFill>
                    <a:srgbClr val="000000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Análisis DNSSEC: sat.mx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9120" y="1791843"/>
            <a:ext cx="8595360" cy="383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293">
                <a:solidFill>
                  <a:srgbClr val="FF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DNSKEY: No presente</a:t>
            </a:r>
          </a:p>
          <a:p>
            <a:pPr algn="l">
              <a:lnSpc>
                <a:spcPts val="2751"/>
              </a:lnSpc>
            </a:pPr>
            <a:r>
              <a:rPr lang="en-US" sz="2293">
                <a:solidFill>
                  <a:srgbClr val="FF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RRSIG: No presente</a:t>
            </a:r>
          </a:p>
          <a:p>
            <a:pPr algn="l">
              <a:lnSpc>
                <a:spcPts val="2751"/>
              </a:lnSpc>
            </a:pPr>
            <a:r>
              <a:rPr lang="en-US" sz="2293">
                <a:solidFill>
                  <a:srgbClr val="FF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NSEC/NSEC3: No presente</a:t>
            </a:r>
          </a:p>
          <a:p>
            <a:pPr algn="l">
              <a:lnSpc>
                <a:spcPts val="2751"/>
              </a:lnSpc>
            </a:pPr>
            <a:r>
              <a:rPr lang="en-US" sz="2293">
                <a:solidFill>
                  <a:srgbClr val="FF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DS: No presente (cadena de confianza rota)</a:t>
            </a:r>
          </a:p>
          <a:p>
            <a:pPr algn="l">
              <a:lnSpc>
                <a:spcPts val="3263"/>
              </a:lnSpc>
            </a:pPr>
          </a:p>
          <a:p>
            <a:pPr algn="l">
              <a:lnSpc>
                <a:spcPts val="3263"/>
              </a:lnSpc>
            </a:pPr>
            <a:r>
              <a:rPr lang="en-US" sz="271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Estado: Disabled</a:t>
            </a:r>
          </a:p>
          <a:p>
            <a:pPr algn="l">
              <a:lnSpc>
                <a:spcPts val="3263"/>
              </a:lnSpc>
            </a:pPr>
          </a:p>
          <a:p>
            <a:pPr algn="l">
              <a:lnSpc>
                <a:spcPts val="3263"/>
              </a:lnSpc>
            </a:pPr>
            <a:r>
              <a:rPr lang="en-US" sz="271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sat.mx no configuró DNSSEC. </a:t>
            </a:r>
          </a:p>
          <a:p>
            <a:pPr algn="l">
              <a:lnSpc>
                <a:spcPts val="3263"/>
              </a:lnSpc>
            </a:pPr>
          </a:p>
          <a:p>
            <a:pPr algn="l">
              <a:lnSpc>
                <a:spcPts val="3263"/>
              </a:lnSpc>
            </a:pPr>
            <a:r>
              <a:rPr lang="en-US" sz="271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No hay cadena de confianza.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1704320" cy="163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 b="true">
                  <a:solidFill>
                    <a:srgbClr val="000000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Análisis DNSSEC: tec.mx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9120" y="1791843"/>
            <a:ext cx="8686800" cy="424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sz="2309">
                <a:solidFill>
                  <a:srgbClr val="FF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DNSKEY: No presente</a:t>
            </a:r>
          </a:p>
          <a:p>
            <a:pPr algn="l">
              <a:lnSpc>
                <a:spcPts val="2771"/>
              </a:lnSpc>
            </a:pPr>
            <a:r>
              <a:rPr lang="en-US" sz="2309">
                <a:solidFill>
                  <a:srgbClr val="FF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RRSIG: No presente</a:t>
            </a:r>
          </a:p>
          <a:p>
            <a:pPr algn="l">
              <a:lnSpc>
                <a:spcPts val="2771"/>
              </a:lnSpc>
            </a:pPr>
            <a:r>
              <a:rPr lang="en-US" sz="2309">
                <a:solidFill>
                  <a:srgbClr val="FF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NSEC/NSEC3: No presente</a:t>
            </a:r>
          </a:p>
          <a:p>
            <a:pPr algn="l">
              <a:lnSpc>
                <a:spcPts val="2771"/>
              </a:lnSpc>
            </a:pPr>
            <a:r>
              <a:rPr lang="en-US" sz="2309">
                <a:solidFill>
                  <a:srgbClr val="FF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DS: No presente (cadena de confianza rota)</a:t>
            </a:r>
          </a:p>
          <a:p>
            <a:pPr algn="l">
              <a:lnSpc>
                <a:spcPts val="3288"/>
              </a:lnSpc>
            </a:pPr>
          </a:p>
          <a:p>
            <a:pPr algn="l">
              <a:lnSpc>
                <a:spcPts val="3288"/>
              </a:lnSpc>
            </a:pPr>
            <a:r>
              <a:rPr lang="en-US" sz="274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Estado: Disabled</a:t>
            </a:r>
          </a:p>
          <a:p>
            <a:pPr algn="l">
              <a:lnSpc>
                <a:spcPts val="3288"/>
              </a:lnSpc>
            </a:pPr>
          </a:p>
          <a:p>
            <a:pPr algn="l">
              <a:lnSpc>
                <a:spcPts val="3288"/>
              </a:lnSpc>
            </a:pPr>
            <a:r>
              <a:rPr lang="en-US" sz="274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tec.mx no configuró DNSSEC. </a:t>
            </a:r>
          </a:p>
          <a:p>
            <a:pPr algn="l">
              <a:lnSpc>
                <a:spcPts val="3288"/>
              </a:lnSpc>
            </a:pPr>
          </a:p>
          <a:p>
            <a:pPr algn="l">
              <a:lnSpc>
                <a:spcPts val="3288"/>
              </a:lnSpc>
            </a:pPr>
            <a:r>
              <a:rPr lang="en-US" sz="274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No hay cadena de confianza. </a:t>
            </a:r>
          </a:p>
          <a:p>
            <a:pPr algn="l">
              <a:lnSpc>
                <a:spcPts val="3288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1704320" cy="163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 b="true">
                  <a:solidFill>
                    <a:srgbClr val="000000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Tabla Comparativa DNSSEC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487680" y="1512147"/>
          <a:ext cx="8778240" cy="4988084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463040"/>
                <a:gridCol w="1463040"/>
                <a:gridCol w="1463040"/>
                <a:gridCol w="1463040"/>
              </a:tblGrid>
              <a:tr h="6500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5"/>
                        </a:lnSpc>
                        <a:defRPr/>
                      </a:pPr>
                      <a:r>
                        <a:rPr lang="en-US" sz="1279">
                          <a:solidFill>
                            <a:srgbClr val="FFFFFF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Dominio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5"/>
                        </a:lnSpc>
                        <a:defRPr/>
                      </a:pPr>
                      <a:r>
                        <a:rPr lang="en-US" sz="1279">
                          <a:solidFill>
                            <a:srgbClr val="FFFFFF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DNSKEY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5"/>
                        </a:lnSpc>
                        <a:defRPr/>
                      </a:pPr>
                      <a:r>
                        <a:rPr lang="en-US" sz="1279">
                          <a:solidFill>
                            <a:srgbClr val="FFFFFF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RRSIG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5"/>
                        </a:lnSpc>
                        <a:defRPr/>
                      </a:pPr>
                      <a:r>
                        <a:rPr lang="en-US" sz="1279">
                          <a:solidFill>
                            <a:srgbClr val="FFFFFF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NSEC/NSEC3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5"/>
                        </a:lnSpc>
                        <a:defRPr/>
                      </a:pPr>
                      <a:r>
                        <a:rPr lang="en-US" sz="1279">
                          <a:solidFill>
                            <a:srgbClr val="FFFFFF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DS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35"/>
                        </a:lnSpc>
                        <a:defRPr/>
                      </a:pPr>
                      <a:r>
                        <a:rPr lang="en-US" sz="1279">
                          <a:solidFill>
                            <a:srgbClr val="FFFFFF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Estado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</a:tr>
              <a:tr h="8676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4"/>
                        </a:lnSpc>
                        <a:defRPr/>
                      </a:pPr>
                      <a:r>
                        <a:rPr lang="en-US" sz="1920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unam.mx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4"/>
                        </a:lnSpc>
                        <a:defRPr/>
                      </a:pPr>
                      <a:r>
                        <a:rPr lang="en-US" sz="1920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SI</a:t>
                      </a:r>
                      <a:r>
                        <a:rPr lang="en-US" sz="1920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 </a:t>
                      </a:r>
                      <a:endParaRPr lang="en-US" sz="1100"/>
                    </a:p>
                    <a:p>
                      <a:pPr algn="l">
                        <a:lnSpc>
                          <a:spcPts val="2304"/>
                        </a:lnSpc>
                      </a:pPr>
                      <a:r>
                        <a:rPr lang="en-US" sz="1920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(2 Claves)</a:t>
                      </a:r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4"/>
                        </a:lnSpc>
                        <a:defRPr/>
                      </a:pPr>
                      <a:r>
                        <a:rPr lang="en-US" sz="1920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4"/>
                        </a:lnSpc>
                        <a:defRPr/>
                      </a:pPr>
                      <a:r>
                        <a:rPr lang="en-US" sz="1920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SI</a:t>
                      </a:r>
                      <a:r>
                        <a:rPr lang="en-US" sz="1920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 NSEC</a:t>
                      </a:r>
                      <a:endParaRPr lang="en-US" sz="1100"/>
                    </a:p>
                    <a:p>
                      <a:pPr algn="l">
                        <a:lnSpc>
                          <a:spcPts val="2064"/>
                        </a:lnSpc>
                      </a:pPr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4"/>
                        </a:lnSpc>
                        <a:defRPr/>
                      </a:pPr>
                      <a:r>
                        <a:rPr lang="en-US" sz="1920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SI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4"/>
                        </a:lnSpc>
                        <a:defRPr/>
                      </a:pPr>
                      <a:r>
                        <a:rPr lang="en-US" sz="1920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Incompleto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76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4"/>
                        </a:lnSpc>
                        <a:defRPr/>
                      </a:pPr>
                      <a:r>
                        <a:rPr lang="en-US" sz="1920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ipn.mx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4"/>
                        </a:lnSpc>
                        <a:defRPr/>
                      </a:pPr>
                      <a:r>
                        <a:rPr lang="en-US" sz="1920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SI</a:t>
                      </a:r>
                      <a:r>
                        <a:rPr lang="en-US" sz="1920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 </a:t>
                      </a:r>
                      <a:endParaRPr lang="en-US" sz="1100"/>
                    </a:p>
                    <a:p>
                      <a:pPr algn="l">
                        <a:lnSpc>
                          <a:spcPts val="2304"/>
                        </a:lnSpc>
                      </a:pPr>
                      <a:r>
                        <a:rPr lang="en-US" sz="1920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(2 Claves)</a:t>
                      </a:r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4"/>
                        </a:lnSpc>
                        <a:defRPr/>
                      </a:pPr>
                      <a:r>
                        <a:rPr lang="en-US" sz="1920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4"/>
                        </a:lnSpc>
                        <a:defRPr/>
                      </a:pPr>
                      <a:r>
                        <a:rPr lang="en-US" sz="1920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PARCIAL</a:t>
                      </a:r>
                      <a:r>
                        <a:rPr lang="en-US" sz="1920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 NSEC3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4"/>
                        </a:lnSpc>
                        <a:defRPr/>
                      </a:pPr>
                      <a:r>
                        <a:rPr lang="en-US" sz="1920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4"/>
                        </a:lnSpc>
                        <a:defRPr/>
                      </a:pPr>
                      <a:r>
                        <a:rPr lang="en-US" sz="1920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Incompleto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76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4"/>
                        </a:lnSpc>
                        <a:defRPr/>
                      </a:pPr>
                      <a:r>
                        <a:rPr lang="en-US" sz="1920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gob.mx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4"/>
                        </a:lnSpc>
                        <a:defRPr/>
                      </a:pPr>
                      <a:r>
                        <a:rPr lang="en-US" sz="1920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SI</a:t>
                      </a:r>
                      <a:r>
                        <a:rPr lang="en-US" sz="1920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 </a:t>
                      </a:r>
                      <a:endParaRPr lang="en-US" sz="1100"/>
                    </a:p>
                    <a:p>
                      <a:pPr algn="l">
                        <a:lnSpc>
                          <a:spcPts val="2304"/>
                        </a:lnSpc>
                      </a:pPr>
                      <a:r>
                        <a:rPr lang="en-US" sz="1920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(2 Claves)</a:t>
                      </a:r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4"/>
                        </a:lnSpc>
                        <a:defRPr/>
                      </a:pPr>
                      <a:r>
                        <a:rPr lang="en-US" sz="1920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4"/>
                        </a:lnSpc>
                        <a:defRPr/>
                      </a:pPr>
                      <a:r>
                        <a:rPr lang="en-US" sz="1920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PARCIAL</a:t>
                      </a:r>
                      <a:r>
                        <a:rPr lang="en-US" sz="1920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 NSEC3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4"/>
                        </a:lnSpc>
                        <a:defRPr/>
                      </a:pPr>
                      <a:r>
                        <a:rPr lang="en-US" sz="1920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SI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4"/>
                        </a:lnSpc>
                        <a:defRPr/>
                      </a:pPr>
                      <a:r>
                        <a:rPr lang="en-US" sz="1920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Incompleto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76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4"/>
                        </a:lnSpc>
                        <a:defRPr/>
                      </a:pPr>
                      <a:r>
                        <a:rPr lang="en-US" sz="1920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sat.mx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4"/>
                        </a:lnSpc>
                        <a:defRPr/>
                      </a:pPr>
                      <a:r>
                        <a:rPr lang="en-US" sz="1920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4"/>
                        </a:lnSpc>
                        <a:defRPr/>
                      </a:pPr>
                      <a:r>
                        <a:rPr lang="en-US" sz="1920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4"/>
                        </a:lnSpc>
                        <a:defRPr/>
                      </a:pPr>
                      <a:r>
                        <a:rPr lang="en-US" sz="1920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4"/>
                        </a:lnSpc>
                        <a:defRPr/>
                      </a:pPr>
                      <a:r>
                        <a:rPr lang="en-US" sz="1920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4"/>
                        </a:lnSpc>
                        <a:defRPr/>
                      </a:pPr>
                      <a:r>
                        <a:rPr lang="en-US" sz="1920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Deshabilitado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76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4"/>
                        </a:lnSpc>
                        <a:defRPr/>
                      </a:pPr>
                      <a:r>
                        <a:rPr lang="en-US" sz="1920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tec.mx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4"/>
                        </a:lnSpc>
                        <a:defRPr/>
                      </a:pPr>
                      <a:r>
                        <a:rPr lang="en-US" sz="1920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4"/>
                        </a:lnSpc>
                        <a:defRPr/>
                      </a:pPr>
                      <a:r>
                        <a:rPr lang="en-US" sz="1920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4"/>
                        </a:lnSpc>
                        <a:defRPr/>
                      </a:pPr>
                      <a:r>
                        <a:rPr lang="en-US" sz="1920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4"/>
                        </a:lnSpc>
                        <a:defRPr/>
                      </a:pPr>
                      <a:r>
                        <a:rPr lang="en-US" sz="1920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4"/>
                        </a:lnSpc>
                        <a:defRPr/>
                      </a:pPr>
                      <a:r>
                        <a:rPr lang="en-US" sz="1920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Deshabilitado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493985"/>
            <a:ext cx="2297393" cy="1673132"/>
            <a:chOff x="0" y="0"/>
            <a:chExt cx="3693277" cy="26897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93277" cy="2689718"/>
            </a:xfrm>
            <a:custGeom>
              <a:avLst/>
              <a:gdLst/>
              <a:ahLst/>
              <a:cxnLst/>
              <a:rect r="r" b="b" t="t" l="l"/>
              <a:pathLst>
                <a:path h="2689718" w="3693277">
                  <a:moveTo>
                    <a:pt x="0" y="0"/>
                  </a:moveTo>
                  <a:lnTo>
                    <a:pt x="3693277" y="0"/>
                  </a:lnTo>
                  <a:lnTo>
                    <a:pt x="3693277" y="2689718"/>
                  </a:lnTo>
                  <a:lnTo>
                    <a:pt x="0" y="26897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3693277" cy="26992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Árbol DNS 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075066" y="652630"/>
            <a:ext cx="7437181" cy="5730287"/>
          </a:xfrm>
          <a:custGeom>
            <a:avLst/>
            <a:gdLst/>
            <a:ahLst/>
            <a:cxnLst/>
            <a:rect r="r" b="b" t="t" l="l"/>
            <a:pathLst>
              <a:path h="5730287" w="7437181">
                <a:moveTo>
                  <a:pt x="0" y="0"/>
                </a:moveTo>
                <a:lnTo>
                  <a:pt x="7437180" y="0"/>
                </a:lnTo>
                <a:lnTo>
                  <a:pt x="7437180" y="5730287"/>
                </a:lnTo>
                <a:lnTo>
                  <a:pt x="0" y="5730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1704320" cy="1625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351"/>
                </a:lnSpc>
              </a:pPr>
              <a:r>
                <a:rPr lang="en-US" sz="5293">
                  <a:solidFill>
                    <a:srgbClr val="00000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Conclusiones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31520" y="1856023"/>
            <a:ext cx="8394192" cy="400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519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Resumen del Análisis:</a:t>
            </a:r>
          </a:p>
          <a:p>
            <a:pPr algn="l">
              <a:lnSpc>
                <a:spcPts val="2255"/>
              </a:lnSpc>
            </a:pPr>
            <a:r>
              <a:rPr lang="en-US" sz="187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 60% de dominios con infraestructura DNSSEC iniciada (DNSKEY configurado)</a:t>
            </a:r>
          </a:p>
          <a:p>
            <a:pPr algn="l">
              <a:lnSpc>
                <a:spcPts val="2255"/>
              </a:lnSpc>
            </a:pPr>
            <a:r>
              <a:rPr lang="en-US" sz="187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 0% con firmas RRSIG activas - sin validación criptográfica real</a:t>
            </a:r>
          </a:p>
          <a:p>
            <a:pPr algn="l">
              <a:lnSpc>
                <a:spcPts val="2255"/>
              </a:lnSpc>
            </a:pPr>
            <a:r>
              <a:rPr lang="en-US" sz="187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 40% con registro DS - delegación segura desde .mx</a:t>
            </a:r>
          </a:p>
          <a:p>
            <a:pPr algn="l">
              <a:lnSpc>
                <a:spcPts val="2255"/>
              </a:lnSpc>
            </a:pPr>
            <a:r>
              <a:rPr lang="en-US" sz="187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 40% sin protección DNSSEC alguna (sat.mx, tec.mx)</a:t>
            </a:r>
          </a:p>
          <a:p>
            <a:pPr algn="l">
              <a:lnSpc>
                <a:spcPts val="2255"/>
              </a:lnSpc>
            </a:pPr>
            <a:r>
              <a:rPr lang="en-US" sz="187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 ipn.mx: cadena de confianza rota (sin DS en padre)</a:t>
            </a:r>
          </a:p>
          <a:p>
            <a:pPr algn="l">
              <a:lnSpc>
                <a:spcPts val="3023"/>
              </a:lnSpc>
            </a:pPr>
          </a:p>
          <a:p>
            <a:pPr algn="l">
              <a:lnSpc>
                <a:spcPts val="3023"/>
              </a:lnSpc>
            </a:pPr>
            <a:r>
              <a:rPr lang="en-US" sz="2519">
                <a:solidFill>
                  <a:srgbClr val="33669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Recomendaciones Urgentes:</a:t>
            </a:r>
          </a:p>
          <a:p>
            <a:pPr algn="l">
              <a:lnSpc>
                <a:spcPts val="2255"/>
              </a:lnSpc>
            </a:pPr>
            <a:r>
              <a:rPr lang="en-US" sz="187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 Activar firmas RRSIG en todos los dominios con DNSKEY</a:t>
            </a:r>
          </a:p>
          <a:p>
            <a:pPr algn="l">
              <a:lnSpc>
                <a:spcPts val="2255"/>
              </a:lnSpc>
            </a:pPr>
            <a:r>
              <a:rPr lang="en-US" sz="187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 Publicar registro DS para ipn.mx en el TLD .mx</a:t>
            </a:r>
          </a:p>
          <a:p>
            <a:pPr algn="l">
              <a:lnSpc>
                <a:spcPts val="2255"/>
              </a:lnSpc>
            </a:pPr>
            <a:r>
              <a:rPr lang="en-US" sz="187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 Implementar DNSSEC completo en sat.mx (dominio crítico)</a:t>
            </a:r>
          </a:p>
          <a:p>
            <a:pPr algn="l">
              <a:lnSpc>
                <a:spcPts val="2255"/>
              </a:lnSpc>
            </a:pPr>
            <a:r>
              <a:rPr lang="en-US" sz="187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 Establecer monitoreo continuo de expiración de firmas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8991" y="364807"/>
            <a:ext cx="3209032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2"/>
              </a:lnSpc>
              <a:spcBef>
                <a:spcPct val="0"/>
              </a:spcBef>
            </a:pPr>
            <a:r>
              <a:rPr lang="en-US" b="true" sz="4693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Referencias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65760" y="2505075"/>
            <a:ext cx="9022080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2"/>
              </a:lnSpc>
              <a:spcBef>
                <a:spcPct val="0"/>
              </a:spcBef>
            </a:pPr>
            <a:r>
              <a:rPr lang="en-US" sz="3093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DNSSEC – ¿Qué son y por qué s</a:t>
            </a:r>
            <a:r>
              <a:rPr lang="en-US" sz="3093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on importantes? - ICANN. (2019, March 20). https://www.icann.org/resources/pages/dnssec-what-is-it-why-important-2019-03-20-es</a:t>
            </a:r>
          </a:p>
          <a:p>
            <a:pPr algn="ctr">
              <a:lnSpc>
                <a:spcPts val="335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DAG5w_VtIr8</dc:identifier>
  <dcterms:modified xsi:type="dcterms:W3CDTF">2011-08-01T06:04:30Z</dcterms:modified>
  <cp:revision>1</cp:revision>
  <dc:title>Analisis_DNSSEC_Dominios_MX.pptx</dc:title>
</cp:coreProperties>
</file>